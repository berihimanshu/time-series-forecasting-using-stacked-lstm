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6.xml" ContentType="application/vnd.openxmlformats-officedocument.drawingml.chart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0" r:id="rId1"/>
  </p:sldMasterIdLst>
  <p:notesMasterIdLst>
    <p:notesMasterId r:id="rId26"/>
  </p:notesMasterIdLst>
  <p:sldIdLst>
    <p:sldId id="28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8" r:id="rId24"/>
    <p:sldId id="280" r:id="rId2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D60A461-CC85-6D4C-9D03-8B0E72E54600}">
          <p14:sldIdLst>
            <p14:sldId id="282"/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6"/>
            <p14:sldId id="277"/>
            <p14:sldId id="278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887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21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8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EF6-A54D-8D48-7CE978FE01C3}"/>
              </c:ext>
            </c:extLst>
          </c:dPt>
          <c:dPt>
            <c:idx val="1"/>
            <c:bubble3D val="0"/>
            <c:spPr>
              <a:solidFill>
                <a:srgbClr val="1C4E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EF6-A54D-8D48-7CE978FE01C3}"/>
              </c:ext>
            </c:extLst>
          </c:dPt>
          <c:dPt>
            <c:idx val="2"/>
            <c:bubble3D val="0"/>
            <c:spPr>
              <a:solidFill>
                <a:srgbClr val="107C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EF6-A54D-8D48-7CE978FE01C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F6-A54D-8D48-7CE978FE01C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EF6-A54D-8D48-7CE978FE01C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F6-A54D-8D48-7CE978FE01C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Intelligent Cloud (Azure)</c:v>
                </c:pt>
                <c:pt idx="1">
                  <c:v>Productivity &amp; Business</c:v>
                </c:pt>
                <c:pt idx="2">
                  <c:v>Personal Computing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32</c:v>
                </c:pt>
                <c:pt idx="2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EF6-A54D-8D48-7CE978FE0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8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AWS</c:v>
                </c:pt>
                <c:pt idx="1">
                  <c:v>Azure</c:v>
                </c:pt>
                <c:pt idx="2">
                  <c:v>Google Cloud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22</c:v>
                </c:pt>
                <c:pt idx="2">
                  <c:v>9</c:v>
                </c:pt>
                <c:pt idx="3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75-D84C-92B4-8C04597E90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AWS</c:v>
                </c:pt>
                <c:pt idx="1">
                  <c:v>Azure</c:v>
                </c:pt>
                <c:pt idx="2">
                  <c:v>Google Cloud</c:v>
                </c:pt>
                <c:pt idx="3">
                  <c:v>Others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</c:v>
                </c:pt>
                <c:pt idx="1">
                  <c:v>23</c:v>
                </c:pt>
                <c:pt idx="2">
                  <c:v>13</c:v>
                </c:pt>
                <c:pt idx="3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75-D84C-92B4-8C04597E90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073154317248808"/>
          <c:y val="0.90575521008591875"/>
          <c:w val="0.30127174607981694"/>
          <c:h val="7.28772685465598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168</c:v>
                </c:pt>
                <c:pt idx="1">
                  <c:v>198</c:v>
                </c:pt>
                <c:pt idx="2">
                  <c:v>212</c:v>
                </c:pt>
                <c:pt idx="3">
                  <c:v>245</c:v>
                </c:pt>
                <c:pt idx="4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F4-7E4C-9ABF-B50E31C94C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($B)</c:v>
                </c:pt>
              </c:strCache>
            </c:strRef>
          </c:tx>
          <c:spPr>
            <a:solidFill>
              <a:srgbClr val="107C4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</c:v>
                </c:pt>
                <c:pt idx="1">
                  <c:v>93</c:v>
                </c:pt>
                <c:pt idx="2">
                  <c:v>101</c:v>
                </c:pt>
                <c:pt idx="3">
                  <c:v>122</c:v>
                </c:pt>
                <c:pt idx="4">
                  <c:v>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F4-7E4C-9ABF-B50E31C94C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8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 ($B)</c:v>
                </c:pt>
              </c:strCache>
            </c:strRef>
          </c:tx>
          <c:spPr>
            <a:ln w="38100" cap="flat">
              <a:solidFill>
                <a:srgbClr val="0078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8D4"/>
              </a:solidFill>
              <a:ln w="9525" cap="flat">
                <a:solidFill>
                  <a:srgbClr val="0078D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23</c:v>
                </c:pt>
                <c:pt idx="2">
                  <c:v>28</c:v>
                </c:pt>
                <c:pt idx="3">
                  <c:v>44</c:v>
                </c:pt>
                <c:pt idx="4">
                  <c:v>58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E87-4342-940B-C2CBB8D87A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ROIC (%)</c:v>
                </c:pt>
              </c:strCache>
            </c:strRef>
          </c:tx>
          <c:spPr>
            <a:ln w="38100" cap="flat">
              <a:solidFill>
                <a:srgbClr val="F0A5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0A500"/>
              </a:solidFill>
              <a:ln w="9525" cap="flat">
                <a:solidFill>
                  <a:srgbClr val="F0A50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</c:v>
                </c:pt>
                <c:pt idx="1">
                  <c:v>28</c:v>
                </c:pt>
                <c:pt idx="2">
                  <c:v>30</c:v>
                </c:pt>
                <c:pt idx="3">
                  <c:v>33</c:v>
                </c:pt>
                <c:pt idx="4">
                  <c:v>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E87-4342-940B-C2CBB8D87A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8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Dividend/Share ($)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  <c:pt idx="5">
                  <c:v>FY25E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2.04</c:v>
                </c:pt>
                <c:pt idx="1">
                  <c:v>2.2400000000000002</c:v>
                </c:pt>
                <c:pt idx="2">
                  <c:v>2.48</c:v>
                </c:pt>
                <c:pt idx="3">
                  <c:v>2.72</c:v>
                </c:pt>
                <c:pt idx="4">
                  <c:v>3</c:v>
                </c:pt>
                <c:pt idx="5">
                  <c:v>3.32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BB-3C4D-89DC-41761BE722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Close</c:v>
                </c:pt>
              </c:strCache>
            </c:strRef>
          </c:tx>
          <c:spPr>
            <a:ln w="25400" cap="flat">
              <a:solidFill>
                <a:srgbClr val="0F2D4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2D4E"/>
              </a:solidFill>
              <a:ln w="9525" cap="flat">
                <a:solidFill>
                  <a:srgbClr val="0F2D4E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  <c:pt idx="10">
                  <c:v>Day 11</c:v>
                </c:pt>
                <c:pt idx="11">
                  <c:v>Day 12</c:v>
                </c:pt>
                <c:pt idx="12">
                  <c:v>Day 13</c:v>
                </c:pt>
                <c:pt idx="13">
                  <c:v>Day 14</c:v>
                </c:pt>
                <c:pt idx="14">
                  <c:v>Day 15</c:v>
                </c:pt>
                <c:pt idx="15">
                  <c:v>Day 16</c:v>
                </c:pt>
                <c:pt idx="16">
                  <c:v>Day 17</c:v>
                </c:pt>
                <c:pt idx="17">
                  <c:v>Day 18</c:v>
                </c:pt>
                <c:pt idx="18">
                  <c:v>Day 19</c:v>
                </c:pt>
                <c:pt idx="19">
                  <c:v>Day 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410</c:v>
                </c:pt>
                <c:pt idx="1">
                  <c:v>415</c:v>
                </c:pt>
                <c:pt idx="2">
                  <c:v>412</c:v>
                </c:pt>
                <c:pt idx="3">
                  <c:v>420</c:v>
                </c:pt>
                <c:pt idx="4">
                  <c:v>425</c:v>
                </c:pt>
                <c:pt idx="5">
                  <c:v>422</c:v>
                </c:pt>
                <c:pt idx="6">
                  <c:v>430</c:v>
                </c:pt>
                <c:pt idx="7">
                  <c:v>428</c:v>
                </c:pt>
                <c:pt idx="8">
                  <c:v>435</c:v>
                </c:pt>
                <c:pt idx="9">
                  <c:v>440</c:v>
                </c:pt>
                <c:pt idx="10">
                  <c:v>438</c:v>
                </c:pt>
                <c:pt idx="11">
                  <c:v>442</c:v>
                </c:pt>
                <c:pt idx="12">
                  <c:v>445</c:v>
                </c:pt>
                <c:pt idx="13">
                  <c:v>450</c:v>
                </c:pt>
                <c:pt idx="14">
                  <c:v>448</c:v>
                </c:pt>
                <c:pt idx="15">
                  <c:v>453</c:v>
                </c:pt>
                <c:pt idx="16">
                  <c:v>458</c:v>
                </c:pt>
                <c:pt idx="17">
                  <c:v>455</c:v>
                </c:pt>
                <c:pt idx="18">
                  <c:v>460</c:v>
                </c:pt>
                <c:pt idx="19">
                  <c:v>465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ABB-CA4E-A74C-02161DDE9B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 Predicted</c:v>
                </c:pt>
              </c:strCache>
            </c:strRef>
          </c:tx>
          <c:spPr>
            <a:ln w="25400" cap="flat">
              <a:solidFill>
                <a:srgbClr val="F0A5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0A500"/>
              </a:solidFill>
              <a:ln w="9525" cap="flat">
                <a:solidFill>
                  <a:srgbClr val="F0A500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  <c:pt idx="10">
                  <c:v>Day 11</c:v>
                </c:pt>
                <c:pt idx="11">
                  <c:v>Day 12</c:v>
                </c:pt>
                <c:pt idx="12">
                  <c:v>Day 13</c:v>
                </c:pt>
                <c:pt idx="13">
                  <c:v>Day 14</c:v>
                </c:pt>
                <c:pt idx="14">
                  <c:v>Day 15</c:v>
                </c:pt>
                <c:pt idx="15">
                  <c:v>Day 16</c:v>
                </c:pt>
                <c:pt idx="16">
                  <c:v>Day 17</c:v>
                </c:pt>
                <c:pt idx="17">
                  <c:v>Day 18</c:v>
                </c:pt>
                <c:pt idx="18">
                  <c:v>Day 19</c:v>
                </c:pt>
                <c:pt idx="19">
                  <c:v>Day 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362</c:v>
                </c:pt>
                <c:pt idx="1">
                  <c:v>357</c:v>
                </c:pt>
                <c:pt idx="2">
                  <c:v>349</c:v>
                </c:pt>
                <c:pt idx="3">
                  <c:v>341</c:v>
                </c:pt>
                <c:pt idx="4">
                  <c:v>338</c:v>
                </c:pt>
                <c:pt idx="5">
                  <c:v>333</c:v>
                </c:pt>
                <c:pt idx="6">
                  <c:v>327</c:v>
                </c:pt>
                <c:pt idx="7">
                  <c:v>321</c:v>
                </c:pt>
                <c:pt idx="8">
                  <c:v>317</c:v>
                </c:pt>
                <c:pt idx="9">
                  <c:v>315</c:v>
                </c:pt>
                <c:pt idx="10">
                  <c:v>313</c:v>
                </c:pt>
                <c:pt idx="11">
                  <c:v>312</c:v>
                </c:pt>
                <c:pt idx="12">
                  <c:v>315</c:v>
                </c:pt>
                <c:pt idx="13">
                  <c:v>309</c:v>
                </c:pt>
                <c:pt idx="14">
                  <c:v>307</c:v>
                </c:pt>
                <c:pt idx="15">
                  <c:v>306</c:v>
                </c:pt>
                <c:pt idx="16">
                  <c:v>306</c:v>
                </c:pt>
                <c:pt idx="17">
                  <c:v>305.5</c:v>
                </c:pt>
                <c:pt idx="18">
                  <c:v>305</c:v>
                </c:pt>
                <c:pt idx="19">
                  <c:v>304.39999999999998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ABB-CA4E-A74C-02161DDE9B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8FC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201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59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32681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678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65268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2950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809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36655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63923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6504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0900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2660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526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35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1" r:id="rId1"/>
    <p:sldLayoutId id="2147484002" r:id="rId2"/>
    <p:sldLayoutId id="2147484003" r:id="rId3"/>
    <p:sldLayoutId id="2147484004" r:id="rId4"/>
    <p:sldLayoutId id="2147484005" r:id="rId5"/>
    <p:sldLayoutId id="2147484006" r:id="rId6"/>
    <p:sldLayoutId id="2147484007" r:id="rId7"/>
    <p:sldLayoutId id="2147484008" r:id="rId8"/>
    <p:sldLayoutId id="2147484009" r:id="rId9"/>
    <p:sldLayoutId id="2147484010" r:id="rId10"/>
    <p:sldLayoutId id="2147484011" r:id="rId11"/>
    <p:sldLayoutId id="214748401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des on papers">
            <a:extLst>
              <a:ext uri="{FF2B5EF4-FFF2-40B4-BE49-F238E27FC236}">
                <a16:creationId xmlns:a16="http://schemas.microsoft.com/office/drawing/2014/main" id="{63AF6AFA-96EA-19C1-0BFB-D220ACC390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1264" r="9091" b="2128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20587-1FD0-40DC-DCE7-D1232508D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704335"/>
            <a:ext cx="7086600" cy="1674211"/>
          </a:xfrm>
        </p:spPr>
        <p:txBody>
          <a:bodyPr>
            <a:normAutofit/>
          </a:bodyPr>
          <a:lstStyle/>
          <a:p>
            <a:r>
              <a:rPr lang="en-US" sz="3100" b="1" dirty="0"/>
              <a:t>Time-Series Forecasting of Microsoft  Closing Price using Stacked LSTM Layers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8B6E7-DB68-DFA0-184E-4A7F9A3EF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9453" y="3649957"/>
            <a:ext cx="7086600" cy="927442"/>
          </a:xfrm>
        </p:spPr>
        <p:txBody>
          <a:bodyPr>
            <a:noAutofit/>
          </a:bodyPr>
          <a:lstStyle/>
          <a:p>
            <a:r>
              <a:rPr lang="en-US" sz="1800" dirty="0"/>
              <a:t>Name : </a:t>
            </a:r>
            <a:r>
              <a:rPr lang="en-US" sz="1800"/>
              <a:t>Himanshu </a:t>
            </a:r>
            <a:r>
              <a:rPr lang="en-US"/>
              <a:t>Beri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1404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4310"/>
            <a:ext cx="4389120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1645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502920" cy="5029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4128" y="548640"/>
            <a:ext cx="502920" cy="5029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2920" cy="5029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24128" y="1115568"/>
            <a:ext cx="502920" cy="5029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0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NASDAQ: MSFT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474720" cy="0"/>
          </a:xfrm>
          <a:prstGeom prst="line">
            <a:avLst/>
          </a:prstGeom>
          <a:noFill/>
          <a:ln w="12700">
            <a:solidFill>
              <a:srgbClr val="50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0906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E2EB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172968"/>
            <a:ext cx="3474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0000"/>
                </a:solidFill>
                <a:latin typeface="+mj-lt"/>
              </a:rPr>
              <a:t>APRIL 2026</a:t>
            </a:r>
          </a:p>
        </p:txBody>
      </p:sp>
      <p:sp>
        <p:nvSpPr>
          <p:cNvPr id="14" name="Shape 12"/>
          <p:cNvSpPr/>
          <p:nvPr/>
        </p:nvSpPr>
        <p:spPr>
          <a:xfrm>
            <a:off x="4800600" y="1078992"/>
            <a:ext cx="3931920" cy="2651760"/>
          </a:xfrm>
          <a:prstGeom prst="rect">
            <a:avLst/>
          </a:prstGeom>
          <a:solidFill>
            <a:srgbClr val="1C4E80"/>
          </a:solidFill>
          <a:ln w="12700">
            <a:solidFill>
              <a:srgbClr val="50A8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50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15727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highlight>
                  <a:srgbClr val="FF0000"/>
                </a:highlight>
                <a:latin typeface="Calibri" pitchFamily="34" charset="0"/>
                <a:cs typeface="Calibri" pitchFamily="34" charset="-120"/>
              </a:rPr>
              <a:t>SELL</a:t>
            </a:r>
            <a:endParaRPr lang="en-US" sz="4000" dirty="0">
              <a:highlight>
                <a:srgbClr val="FF0000"/>
              </a:highlight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37760" y="2423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Price:  $303.74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2770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Price:  ~$370.00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090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Downside:  -21.8%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supporting a SELL recommendation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Corporation (NASDAQ: MSFT)  |SELL 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188720"/>
            <a:ext cx="2606040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2423160" cy="36576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D4E"/>
                </a:solidFill>
                <a:latin typeface="Calibri" pitchFamily="34" charset="0"/>
                <a:cs typeface="Calibri" pitchFamily="34" charset="-120"/>
              </a:rPr>
              <a:t>“AI TAX” on Margins 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2331720"/>
            <a:ext cx="2286000" cy="0"/>
          </a:xfrm>
          <a:prstGeom prst="line">
            <a:avLst/>
          </a:prstGeom>
          <a:noFill/>
          <a:ln w="635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404872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When copilot adoption is high , the cost to serve generative AI is significantly higher than traditional SAAS . Gross margins are under pressure as depreciation from AI Hardware begins to outpace incremental revenue growth </a:t>
            </a:r>
          </a:p>
        </p:txBody>
      </p:sp>
      <p:sp>
        <p:nvSpPr>
          <p:cNvPr id="14" name="Shape 12"/>
          <p:cNvSpPr/>
          <p:nvPr/>
        </p:nvSpPr>
        <p:spPr>
          <a:xfrm>
            <a:off x="3355848" y="1239012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55848" y="1188720"/>
            <a:ext cx="2606040" cy="10972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6140" y="141732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47288" y="19385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47288" y="2331720"/>
            <a:ext cx="2286000" cy="0"/>
          </a:xfrm>
          <a:prstGeom prst="line">
            <a:avLst/>
          </a:prstGeom>
          <a:noFill/>
          <a:ln w="635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47288" y="2404872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i="1" dirty="0">
                <a:solidFill>
                  <a:srgbClr val="64748B"/>
                </a:solidFill>
                <a:latin typeface="Calibri Light" panose="020F0302020204030204" pitchFamily="34" charset="0"/>
                <a:ea typeface="Calibri" pitchFamily="34" charset="-122"/>
                <a:cs typeface="Calibri Light" panose="020F0302020204030204" pitchFamily="34" charset="0"/>
              </a:rPr>
              <a:t>Microsoft is projected to spend over *$100B in Capex for FY2026. This aggressive build-out creates a "Negative Cash Conversion" risk if enterprise AI adoption cycles take longer than the market anticipates to reach full scale.</a:t>
            </a:r>
            <a:endParaRPr lang="en-US" sz="1100" i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08776" y="118872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08776" y="1188720"/>
            <a:ext cx="2606040" cy="109728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0216" y="13258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300216" y="1938528"/>
            <a:ext cx="2423160" cy="36576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D4E"/>
                </a:solidFill>
                <a:latin typeface="Calibri" pitchFamily="34" charset="0"/>
                <a:cs typeface="Calibri" pitchFamily="34" charset="-120"/>
              </a:rPr>
              <a:t>Valuation Disconnect </a:t>
            </a:r>
          </a:p>
        </p:txBody>
      </p:sp>
      <p:sp>
        <p:nvSpPr>
          <p:cNvPr id="24" name="Shape 22"/>
          <p:cNvSpPr/>
          <p:nvPr/>
        </p:nvSpPr>
        <p:spPr>
          <a:xfrm>
            <a:off x="6300216" y="2331720"/>
            <a:ext cx="2286000" cy="0"/>
          </a:xfrm>
          <a:prstGeom prst="line">
            <a:avLst/>
          </a:prstGeom>
          <a:noFill/>
          <a:ln w="635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00216" y="2404872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price of ~370 assumes a "perfect execution" scenario. Our model's fair value of 303.74 suggests the market is overvaluing Azure's growth durability and ignoring the structural shift toward a more capital-intensive business model. </a:t>
            </a:r>
          </a:p>
        </p:txBody>
      </p:sp>
      <p:sp>
        <p:nvSpPr>
          <p:cNvPr id="27" name="Alternative Process 26">
            <a:extLst>
              <a:ext uri="{FF2B5EF4-FFF2-40B4-BE49-F238E27FC236}">
                <a16:creationId xmlns:a16="http://schemas.microsoft.com/office/drawing/2014/main" id="{6F12EFCA-69F0-5808-B31C-F571D2528575}"/>
              </a:ext>
            </a:extLst>
          </p:cNvPr>
          <p:cNvSpPr/>
          <p:nvPr/>
        </p:nvSpPr>
        <p:spPr>
          <a:xfrm>
            <a:off x="3611880" y="1929384"/>
            <a:ext cx="2029968" cy="402336"/>
          </a:xfrm>
          <a:prstGeom prst="flowChartAlternateProcess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Capex Overhang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1975 · Redmond, WA · ~$3T+ Market Cap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3840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298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2984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1975 · Bill Gates &amp; Paul Allen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719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719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Redmond, Washington, USA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1396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1396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~228,000 globally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560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~$3.2 Trillion (as of Apr 2026) — Overvalued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9809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9809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190+ countries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4015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Rating: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3401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(S&amp;P &amp; Moody's)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8221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822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consecutive growth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2428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42428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NASDAQ: MSFT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1170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Segments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1572768"/>
            <a:ext cx="406908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1572768"/>
            <a:ext cx="109728" cy="9875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9472" y="1645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&amp; Business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~32% of Revenue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9472" y="21762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365, Teams, LinkedIn, Dynamics 365 — Facing Google Workspace competition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688336"/>
            <a:ext cx="406908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2688336"/>
            <a:ext cx="109728" cy="987552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19472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Cloud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3035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Revenue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9472" y="3291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Azure, SQL Server, GitHub, Nuance — Growth decelerating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803904"/>
            <a:ext cx="406908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09160" y="3803904"/>
            <a:ext cx="109728" cy="987552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19472" y="38770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Computing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19472" y="41513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 of Revenue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44074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Xbox, Surface, Bing — Structural PC decline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Segmentation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FY2025E – $280B+ Total Revenue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097280"/>
          <a:ext cx="43891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120640" y="1143000"/>
            <a:ext cx="3657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120640" y="1143000"/>
            <a:ext cx="109728" cy="10515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21808" y="12070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Cloud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21808" y="1508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· $112B+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21808" y="18013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growing 29% YoY CC; AI workloads surging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120640" y="2331720"/>
            <a:ext cx="3657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120640" y="2331720"/>
            <a:ext cx="109728" cy="105156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321808" y="23957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21808" y="26974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~32% · $90B+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21808" y="29900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Commercial ARPU rising via Copilot add-ons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120640" y="3520440"/>
            <a:ext cx="3657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120640" y="3520440"/>
            <a:ext cx="109728" cy="105156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321808" y="35844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Computing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21808" y="3886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 · $78B+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321808" y="41788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Xbox, Bing, Surface; stabilizing post-pandemic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Valuation Risks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IT spend, rate cycles, and currency dynamics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400507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2527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1252728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Spending Growth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1524000"/>
            <a:ext cx="29260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"While Gartner forecasts a 10.8% increase in total IT spend for 2026, a significant portion is being diverted from traditional software seats to fund expensive AI infrastructure. This 'budget-shifting' creates a headwind for Microsoft’s legacy high-margin SaaS products as enterprises consolidate vendors to manage costs."</a:t>
            </a:r>
          </a:p>
        </p:txBody>
      </p:sp>
      <p:sp>
        <p:nvSpPr>
          <p:cNvPr id="12" name="Shape 10"/>
          <p:cNvSpPr/>
          <p:nvPr/>
        </p:nvSpPr>
        <p:spPr>
          <a:xfrm>
            <a:off x="4818888" y="1143000"/>
            <a:ext cx="400507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56048" y="12527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87568" y="1252728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Cycle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87568" y="1444752"/>
            <a:ext cx="29260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Fed's 'pause' at 3.5%–3.75% in March 2026 suggests a slower-than-expected easing cycle. With only one cut projected for the remainder of the year, the high-multiple valuation of MSFT remains vulnerable. Long-duration FCF streams are being discounted at rates higher than the 'goldilocks' scenario currently priced into the stock."</a:t>
            </a:r>
          </a:p>
        </p:txBody>
      </p:sp>
      <p:sp>
        <p:nvSpPr>
          <p:cNvPr id="16" name="Shape 14"/>
          <p:cNvSpPr/>
          <p:nvPr/>
        </p:nvSpPr>
        <p:spPr>
          <a:xfrm>
            <a:off x="502920" y="2971800"/>
            <a:ext cx="400507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0815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71600" y="3081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/ USD Dynamics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2926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“While a weakening USD is generally a tailwind, recent geopolitical volatility in the Middle East has triggered 'flight-to-safety' USD strength. This creates unpredictable 1–3% revenue headwinds, complicating Microsoft's ability to hit ambitious international growth targets in a softening global economy."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18888" y="2971800"/>
            <a:ext cx="400507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56048" y="30815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87568" y="30815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Adoption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87568" y="3343835"/>
            <a:ext cx="2926080" cy="1109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'AI Paradox' of 2026: 65% of enterprises have adopted GenAI, but 80% report no tangible impact on EBIT. CIOs are pivoting from 'experimental' to 'justifiable' spending. This shift threatens the high-multiple 'AI premium' baked into MSFT's price, as the market realizes the monetization runway is much longer than initially modeled."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Revolution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The AI Reality Check : Execution and Margin Risks 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8412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Market Size: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252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 Trillion by 2032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0" y="1252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CAGR: ~35% (2024–2032)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40050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2920" y="2286000"/>
            <a:ext cx="4005072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4505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Partnership : Concentration Risks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Microsoft’s heavy reliance on a single partner (OpenAI) creates strategic vulnerability. Regulatory scrutiny regarding "antitrust in AI" could limit the exclusive nature of this partnership.</a:t>
            </a:r>
          </a:p>
        </p:txBody>
      </p:sp>
      <p:sp>
        <p:nvSpPr>
          <p:cNvPr id="16" name="Shape 14"/>
          <p:cNvSpPr/>
          <p:nvPr/>
        </p:nvSpPr>
        <p:spPr>
          <a:xfrm>
            <a:off x="4818888" y="2286000"/>
            <a:ext cx="40050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18888" y="2286000"/>
            <a:ext cx="4005072" cy="914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56048" y="24505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Everywhere : Seat Saturation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2788920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Most growth is coming from moving </a:t>
            </a: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users to higher tiers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($19–$39/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There is a "ceiling" to how much enterprises will pay for incremental productivity gains before demanding proof of ROI.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40050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4005072" cy="9144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8221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Edge : Margin Headwinds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focus is   “$50B+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”.  It Highlights that "Custom Maia accelerators" are </a:t>
            </a: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unproven at scale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NVIDIA H100/H200 costs are non-negotiable, putting a floor on how low operating costs can go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18888" y="3657600"/>
            <a:ext cx="40050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818888" y="3657600"/>
            <a:ext cx="4005072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56048" y="38221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Business Model : ROIC Challenge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4160520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SaaS to an "AI service layer" requires a fundamental shift in capital allocation. The "moat" is widening, but the </a:t>
            </a: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“Return on Invested Capital (ROIC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)” is currently trending downward due to the massive scale of investment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Competition : The Cost of Market Share 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vs. AWS vs. Google Cloud – Market Share Dynamics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495322168"/>
              </p:ext>
            </p:extLst>
          </p:nvPr>
        </p:nvGraphicFramePr>
        <p:xfrm>
          <a:off x="457200" y="1097280"/>
          <a:ext cx="47548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1188720"/>
            <a:ext cx="3291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77840" y="1188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+1pp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629400" y="1188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share gain (2021–2025E)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29400" y="1527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declined 1pp; Google +4pp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Acquired at Expense of “$50B+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CapEX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”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2011680"/>
            <a:ext cx="3291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577840" y="20574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629400" y="2057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YoY growth (CC)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629400" y="23957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Decelerating from the pandemic High , facing tougher comps in 2026 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0" y="2880360"/>
            <a:ext cx="3291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577840" y="29260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$200B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629400" y="29260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Est. Annual Revenue Run Rate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29400" y="32644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 major cloud , But “High revenue base makes future beats ”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0" y="3749040"/>
            <a:ext cx="3291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577840" y="3794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6629400" y="3794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on Azure AI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629400" y="41330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enterprise entrenchment , but massive development of infra 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attractiveness of Microsoft's competitive environment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 New Entrants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600200"/>
            <a:ext cx="914400" cy="256032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600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9476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capital requirements ($50B+ CapEx), hyperscale infrastructure, regulatory approvals, and brand trust create near-impenetrable barriers.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Power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18935" y="1600200"/>
            <a:ext cx="914400" cy="256032"/>
          </a:xfrm>
          <a:prstGeom prst="rect">
            <a:avLst/>
          </a:prstGeom>
          <a:solidFill>
            <a:srgbClr val="FF00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92040" y="1600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19476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dominates GPU supply (H100/H200). MSFT mitigates via custom silicon (Maia), multi-vendor sourcing, and long-term supply agreements.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Power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200400"/>
            <a:ext cx="91440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80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5478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“AI-Fatigue” is increasing . CIO’s are scrutinizing the ROI of $30’/user Copilot Fees , increasing  pressure on MSFT to offer discounts or bundles to prevent churn </a:t>
            </a:r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 Substitutes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3200400"/>
            <a:ext cx="914400" cy="256032"/>
          </a:xfrm>
          <a:prstGeom prst="rect">
            <a:avLst/>
          </a:prstGeom>
          <a:solidFill>
            <a:srgbClr val="FF00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92040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35478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LLMs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Linux/Mac, Google Workspace, and AWS compete in segments. MSFT's breadth and Copilot integration reduce substitution risk.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24328" y="393192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61488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Rivalry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61488" y="4389120"/>
            <a:ext cx="914400" cy="256032"/>
          </a:xfrm>
          <a:prstGeom prst="rect">
            <a:avLst/>
          </a:prstGeom>
          <a:solidFill>
            <a:srgbClr val="FF000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61488" y="4389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61488" y="4736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competition from Amazon (AWS), Alphabet (GCP + Gemini), Apple, Meta, and Oracle. AI is the new battleground requiring continuous R&amp;D investment.</a:t>
            </a:r>
            <a:endParaRPr lang="en-US" sz="95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EBITDA Growth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Historical Performance &amp; Margin Expansion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09728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989320" y="1143000"/>
            <a:ext cx="2057400" cy="9372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80760" y="121615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14%( REVENUE GROWTH)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080760" y="20574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5-Yr CAGR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89320" y="2103120"/>
            <a:ext cx="2057400" cy="9372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80760" y="217627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16%EBITDA GROWTH)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080760" y="30175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5-Yr CAGR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3063240"/>
            <a:ext cx="2057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80760" y="3136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~52%(MARGIN)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080760" y="39776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(FY25E)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89320" y="4023360"/>
            <a:ext cx="2057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80760" y="40965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+800bps(EXPANSION)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80760" y="49377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Expansion (5-Yr)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Driver: Transitioning from high- margin SAAS to capital intensive AI Infrastructure . Record CAPEX and GPU depreciation are projected to stall the flywheel and compress the EBITDA Margin starting in FY26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Budgeting &amp; CapEx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Capital Intensity and The Risk of Diminishing Returns   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09728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989320" y="1170432"/>
            <a:ext cx="2788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08192" y="1216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$10B+/</a:t>
            </a:r>
            <a:r>
              <a:rPr lang="en-US" sz="1400" b="1" dirty="0" err="1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qtr</a:t>
            </a: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Cash Burn Scale)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08192" y="1591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Infrastructure spending has tripled in 4 years 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89320" y="2084832"/>
            <a:ext cx="2788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08192" y="21305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35%+( ROIC COMPRESSION)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08192" y="25054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While ROIC is plateauing as the cost of AI Chips outpaces the incremental revenue gains 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2999232"/>
            <a:ext cx="2788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08192" y="3044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$80B+( FCF UNDER PRESSURE)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08192" y="3419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 is the lifeblood of the valuation 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89320" y="3913632"/>
            <a:ext cx="2788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108192" y="3959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Maia/Cobalt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108192" y="4334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AI/ARM silicon is an attempt to escape NVIDIA High Margins 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 &amp; Financing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Credit Rating · Strategic Debt Utilization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Snapshot (FY2025)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827337"/>
              </p:ext>
            </p:extLst>
          </p:nvPr>
        </p:nvGraphicFramePr>
        <p:xfrm>
          <a:off x="502920" y="1536192"/>
          <a:ext cx="4754880" cy="3188091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1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$619B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&amp; Equivalents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~$49.3B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1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(Net Cash)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Cash ~$12.9B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/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~0.25x (very 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1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 CAPEX Commitment</a:t>
                      </a: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~50B+( Annual)</a:t>
                      </a: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1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Buybacks </a:t>
                      </a: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~60B+Program </a:t>
                      </a: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73562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0" y="11704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Financing Insights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0" y="1463040"/>
            <a:ext cx="355898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0" y="1490472"/>
            <a:ext cx="3558986" cy="1371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96128" y="1627632"/>
            <a:ext cx="310896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Rating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96128" y="1822820"/>
            <a:ext cx="3108960" cy="611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AAA rating minimizes the interest expense , the market is currently overvaluing this stability .Our model reflects a higher( WAAC of 9%) to account for the risk of capital – intensive investment 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399" y="2571750"/>
            <a:ext cx="3558987" cy="93040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486400" y="2606040"/>
            <a:ext cx="3558986" cy="73152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596128" y="27432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Activision Deal : 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96128" y="2889504"/>
            <a:ext cx="3108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$69B acquisition remains a significant drag on Net Cash .With the consumer gaming section shows sign of cooling in early 2026 . The long term ROIC for this deal is underperforming the initial high growth software projection 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0" y="3639312"/>
            <a:ext cx="355898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86400" y="3623310"/>
            <a:ext cx="3558986" cy="107442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96128" y="37947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Buybacks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96128" y="4096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a key driver of EPS, repurchases are now being crowded out by the (50 B+ annual Capex) requirement  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&amp; Cash Efficiency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CCC – Maximized Efficiency Facing Infrastructure Headwinds 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1920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192024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1280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Inventory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(DIO)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7830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days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" y="226771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physical inventory; mostly software/cloud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17373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32888" y="1143000"/>
            <a:ext cx="1920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32888" y="1143000"/>
            <a:ext cx="1920240" cy="914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06040" y="1280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Sales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(DSO)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17830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 days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06040" y="226771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billing cycles; deferred revenue offset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53128" y="17373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700016" y="1143000"/>
            <a:ext cx="1920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0016" y="1143000"/>
            <a:ext cx="1920240" cy="9144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73168" y="1280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Payable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(DPO)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3168" y="17830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days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3168" y="226771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payment terms with suppliers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20256" y="17373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67144" y="1143000"/>
            <a:ext cx="1920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67144" y="1143000"/>
            <a:ext cx="19202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40296" y="1280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(CCC)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0296" y="17830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~-21 days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40296" y="226771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CCC: MSFT receives cash BEFORE paying costs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177540"/>
            <a:ext cx="8412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Negative CCC is a Strategic Advantage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358444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Microsoft effectively borrows from customers at 0% cost via deferred revenue, this capital is increasingly being diverted into capital-intensive, lower-ROIC AI infrastructure. Historically, this cash fueled high-margin SaaS growth; moving forward, it must fund a perpetual hardware 'arms race,' limiting its ability to compound Free Cash Flow at previous rates.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&amp; Share Buyback Policy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of Consecutive Dividend Growth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09728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760720" y="1143000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06440" y="11978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806440" y="1673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Dividend Growth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760720" y="2194560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06440" y="22494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806440" y="2724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Annual Dividend CAGR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760720" y="3246120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06440" y="33009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$0.83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5806440" y="3776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Dividend (Latest)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315200" y="1124712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406640" y="11978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$60B+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7406640" y="1673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 Program Authorized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360920" y="2194560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406640" y="22494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~1.0%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406640" y="2724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(forward)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360920" y="3246120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406640" y="33009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+EPS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7406640" y="3776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Buybacks Boost EPS ~2% Annually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02920" y="451713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Return Policy: High infrastructure intensity is beginning to compete with shareholder returns. We project a deviation from the historical 100%+ FCF return target as AI </a:t>
            </a:r>
            <a:r>
              <a:rPr lang="en-US" sz="95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requirements take priority over aggressive buybacks.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Mitigating Factors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706292"/>
              </p:ext>
            </p:extLst>
          </p:nvPr>
        </p:nvGraphicFramePr>
        <p:xfrm>
          <a:off x="411480" y="1143000"/>
          <a:ext cx="8503920" cy="37947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Factor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/ Antitrust (EU/US DoJ)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compliance; product unbundling options; MSFT has navigated these before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Competition (Google Gemini, Meta, Amazon)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models (Llama) and Google’s vertical integration are forcing MSFT into a price war that erodes software-level margins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 / Data Breach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Copilot; Zero Trust architecture; $4B/yr security R&amp;D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Growth Deceleration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Medium-High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AI workloads are accelerating, but at lower margins. Enterprise IT budgets are not infinite;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Recession / IT Budget Cuts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High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resilient, M365 and Azure are not immune to seat-count reductions if enterprises undergo mass layoffs.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Relationship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High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scrutiny of the partnership is increasing. If the partnership is restructured, MSFT loses its primary AI "moat".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Headwinds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hedge via international costs; impacts ~1–3% of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Beta, Volatility &amp; Market Risk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MSFT's risk-adjusted return profile vs. Tech Sector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40050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78D4"/>
                </a:solidFill>
                <a:latin typeface="Calibri" pitchFamily="34" charset="0"/>
                <a:cs typeface="Calibri" pitchFamily="34" charset="-120"/>
              </a:rPr>
              <a:t>1.1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42316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Beta (vs. S&amp;P 500)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 beta expansion reflects its transition from a defense “safe heaven “ to AI- Driven Market data 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18888" y="1143000"/>
            <a:ext cx="40050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01768" y="1234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739128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Annualized Volatility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39128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XLK ETF avg. of 26%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697480"/>
            <a:ext cx="40050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788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78D4"/>
                </a:solidFill>
                <a:latin typeface="Calibri" pitchFamily="34" charset="0"/>
                <a:cs typeface="Calibri" pitchFamily="34" charset="-120"/>
              </a:rPr>
              <a:t>0.86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423160" y="2788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(3-Yr)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risk-adj. return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18888" y="2697480"/>
            <a:ext cx="40050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01768" y="2788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~-31.6%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739128" y="2788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(Q1 2026 Pullback)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39128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Nasdaq -33%; resilient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315968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43708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Inputs: Risk-Free Rate ~4.34% (10-yr UST), Equity Risk Premium 5.5%, Beta 1.1 → Cost of Equity ~10.46% · Cost of Debt ~3.8% · WACC ≈ 9.8%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Environmental, Social &amp; Governance Leadership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26974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2697480" cy="109728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280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Carbon-negative by 2030 commitment: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centers are causing total emissions to rise , not fall 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2494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renewable energy for data centers: Massive electricity demand for AI is outstripping renewable supply.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761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Water-positive by 2030 : AI Cooling requirements uses millions of gallons of water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2735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waste by 2030 (landfill diversion)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37856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Earth program: $50M+ investment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18688" y="1143000"/>
            <a:ext cx="26974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18688" y="1143000"/>
            <a:ext cx="2697480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28416" y="1280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28416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women/ethnic minorities on Board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28416" y="22494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Skills Initiative: 25M people trained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28416" y="2761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Research ($100M+ commitment): this is the necessary defensive spend against potential lawsuits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28416" y="32735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commitment across all products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28416" y="37856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diversity: $500M+ to minority businesses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71616" y="1143000"/>
            <a:ext cx="26974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71616" y="1143000"/>
            <a:ext cx="2697480" cy="10972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81344" y="1280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81344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Board majority (10/12 independent)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81344" y="22494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'Say on Pay' shareholder vote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81344" y="2761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AI principles : the black box nature of the open-ai partnership  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81344" y="32735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privacy-first design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81344" y="37856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 tied to ESG &amp; diversity metrics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Valuation – Base Case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Free Cash Flow Model · WACC 9.0% · TGR 3.0%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32004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Assumptions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645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87168" y="1645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1993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Growth Rate: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87168" y="19933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3408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87168" y="23408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26883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Base (FY25E):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87168" y="26883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0358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FCF Growth (Yr 1-5):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87168" y="30358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3383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FCF Growth (Yr 6-10):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87168" y="3383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37307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Value Method: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87168" y="37307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Growth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40782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Outstanding: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87168" y="4078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~7.44B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44256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Added: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87168" y="44256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+$12.9B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1115568"/>
            <a:ext cx="4892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977640" y="11612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$3.87T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263640" y="1316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840480" y="2029968"/>
            <a:ext cx="4892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977640" y="20756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$3.90T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263640" y="22311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840480" y="2944368"/>
            <a:ext cx="4892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77640" y="2990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$303.74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6263640" y="31455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Intrinsic Value / Share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840480" y="3858768"/>
            <a:ext cx="4892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977640" y="39044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-18.0%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6263640" y="40599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to Current Price (LSTM Target)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4663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Enterprise Value = Σ(PV of FCFs) + PV(Terminal Value). Equity Value = EV + Net Cash – Debt.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Valuation (Trading Multiples)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 vs. Big Tech Peers – P/E, EV/EBITDA, P/S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929004"/>
              </p:ext>
            </p:extLst>
          </p:nvPr>
        </p:nvGraphicFramePr>
        <p:xfrm>
          <a:off x="411480" y="1143000"/>
          <a:ext cx="8503920" cy="25603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Fwd P/E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EV/EBITDA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(MSFT)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32x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(AAPL)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Alphabet (GOOGL)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(AMZN)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38x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Avg (excl. MSFT)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29x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6x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MSFT Premium/(Discount) to Peer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+22%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+100%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37490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Conclusion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4050792"/>
            <a:ext cx="8321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 trades at a massive premium to peers across all major multiples, including a 100% premium on P/Sales. While historically justified by software margins, this premium is now unsustainable as MSFT’s capital intensity rises to match asset-heavy peers like Amazon. As revenue growth and EBITDA margins face pressure from high AI infrastructure costs, we project a mean reversion of these multiples. A shift toward the peer average P/E of 29x (currently 32x) would imply a significant correction toward the model  intrinsic value of $303.74.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– Bull / Base / Bear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on Azure Growth &amp; AI Monetization Rate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269748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115568"/>
            <a:ext cx="2697480" cy="347472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1155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BULL CASE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1536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10%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" y="2395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+4%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2724912"/>
            <a:ext cx="2468880" cy="0"/>
          </a:xfrm>
          <a:prstGeom prst="line">
            <a:avLst/>
          </a:prstGeom>
          <a:noFill/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788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accelerates to 25%+ CC growth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31912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achieves 30% M365 seat penetration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GPT-5/6 drives new revenue streams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3995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compresses to 8.0% (rate cuts)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" y="4398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margin expands to 44% by FY28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64408" y="1115568"/>
            <a:ext cx="269748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64408" y="1115568"/>
            <a:ext cx="2697480" cy="3474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55848" y="11155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 CASE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74136" y="1536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45%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74136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3374136" y="2395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Downside: -21%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74136" y="2724912"/>
            <a:ext cx="2468880" cy="0"/>
          </a:xfrm>
          <a:prstGeom prst="line">
            <a:avLst/>
          </a:prstGeom>
          <a:noFill/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74136" y="2788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sustains 26–29% CC growth</a:t>
            </a:r>
            <a:endParaRPr lang="en-US" sz="950" b="1" dirty="0"/>
          </a:p>
        </p:txBody>
      </p:sp>
      <p:sp>
        <p:nvSpPr>
          <p:cNvPr id="28" name="Text 26"/>
          <p:cNvSpPr/>
          <p:nvPr/>
        </p:nvSpPr>
        <p:spPr>
          <a:xfrm>
            <a:off x="3374136" y="31912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penetration ~15% by FY27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74136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M365 ARPU uplift of $4–$8/seat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74136" y="3995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at 9.0%</a:t>
            </a:r>
            <a:endParaRPr lang="en-US" sz="950" b="1" dirty="0"/>
          </a:p>
        </p:txBody>
      </p:sp>
      <p:sp>
        <p:nvSpPr>
          <p:cNvPr id="31" name="Text 29"/>
          <p:cNvSpPr/>
          <p:nvPr/>
        </p:nvSpPr>
        <p:spPr>
          <a:xfrm>
            <a:off x="3374136" y="4398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margin ~40% by FY28</a:t>
            </a:r>
            <a:endParaRPr lang="en-US" sz="950" b="1" dirty="0"/>
          </a:p>
        </p:txBody>
      </p:sp>
      <p:sp>
        <p:nvSpPr>
          <p:cNvPr id="32" name="Shape 30"/>
          <p:cNvSpPr/>
          <p:nvPr/>
        </p:nvSpPr>
        <p:spPr>
          <a:xfrm>
            <a:off x="6163056" y="1115568"/>
            <a:ext cx="269748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63056" y="1115568"/>
            <a:ext cx="2697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54496" y="11155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BEAR CASE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72784" y="1536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40%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72784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6272784" y="2395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Downside: -40%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72784" y="2724912"/>
            <a:ext cx="2468880" cy="0"/>
          </a:xfrm>
          <a:prstGeom prst="line">
            <a:avLst/>
          </a:prstGeom>
          <a:noFill/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72784" y="2788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slows to 15% due to competition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72784" y="31912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breakup or fines ($10B+)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72784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monetization delayed 2+ years</a:t>
            </a:r>
            <a:endParaRPr lang="en-US" sz="950" b="1" dirty="0"/>
          </a:p>
        </p:txBody>
      </p:sp>
      <p:sp>
        <p:nvSpPr>
          <p:cNvPr id="42" name="Text 40"/>
          <p:cNvSpPr/>
          <p:nvPr/>
        </p:nvSpPr>
        <p:spPr>
          <a:xfrm>
            <a:off x="6272784" y="3995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rises to 10.5% (rate spike)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72784" y="4398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recession cuts IT budgets 10%</a:t>
            </a:r>
            <a:endParaRPr lang="en-US" sz="95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LSTM Model – Rationale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Price Prediction to Complement Fundamental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70432"/>
            <a:ext cx="400507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Why LSTM?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00784"/>
            <a:ext cx="3566160" cy="0"/>
          </a:xfrm>
          <a:prstGeom prst="line">
            <a:avLst/>
          </a:prstGeom>
          <a:noFill/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 networks solve the vanishing gradient problem of standard RNNs, allowing the model to learn patterns across 100+ trading day sequences. Ideal for time-series with long-range dependencies like stock prices.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18888" y="1170432"/>
            <a:ext cx="400507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56048" y="12801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Why 'Stacked'?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56048" y="1700784"/>
            <a:ext cx="3566160" cy="0"/>
          </a:xfrm>
          <a:prstGeom prst="line">
            <a:avLst/>
          </a:prstGeom>
          <a:noFill/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56048" y="1764792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LSTM layers (stacked architecture) allow hierarchical feature extraction: Layer 1 learns short-term momentum; Layer 2 learns medium-term trends; Layer 3 learns macro/cyclical patterns.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044952"/>
            <a:ext cx="400507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Limitations Acknowledged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575304"/>
            <a:ext cx="3566160" cy="0"/>
          </a:xfrm>
          <a:prstGeom prst="line">
            <a:avLst/>
          </a:prstGeom>
          <a:noFill/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639312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predicts statistical patterns in price data — it does NOT model earnings surprises, regulatory events, or macro shocks. Treated as a supplementary signal, not a standalone forecast.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18888" y="3044952"/>
            <a:ext cx="400507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56048" y="31546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Synthesis with Fundamentals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56048" y="3575304"/>
            <a:ext cx="3566160" cy="0"/>
          </a:xfrm>
          <a:prstGeom prst="line">
            <a:avLst/>
          </a:prstGeom>
          <a:noFill/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56048" y="3639312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model identifies a significant breakdown in the historical relationship between price momentum and fundamental growth. The predicted price of $303.74 indicates that the current market premium is statistically overextended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 Architecture &amp; Inputs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· Feature Engineering · Model Design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4023360" cy="548640"/>
          </a:xfrm>
          <a:prstGeom prst="rect">
            <a:avLst/>
          </a:prstGeom>
          <a:solidFill>
            <a:srgbClr val="E2EBF3"/>
          </a:solidFill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16184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Length: 100 days · 5 features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0848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203704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203704"/>
            <a:ext cx="4023360" cy="5486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2494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Layer 1 (128 units)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24597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return_sequences=True · Dropout: 20%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715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283464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2834640"/>
            <a:ext cx="4023360" cy="5486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2880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Layer 2 (64 units)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3090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return_sequences=True · Dropout: 20%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3467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3465576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3465576"/>
            <a:ext cx="4023360" cy="5486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" y="35112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Layer 3 (32 units)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" y="3721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return_sequences=False · Dropout: 20%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39776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4096512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4096512"/>
            <a:ext cx="4023360" cy="54864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41422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Output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" y="43525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neuron · Linear activation · Predict close price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&amp; Features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157276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157276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/ Bloomberg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19202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192024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2011 – Mar2026 (~15 yrs)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226771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226771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/ 35%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261518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2615184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Close, Volume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Open , High , Low 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296265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296265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(0–1)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331012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331012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(lr=0.001)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6320" y="36576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92240" y="365760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(MSE)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46320" y="400507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92240" y="400507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46320" y="435254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92240" y="4352544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Price Prediction – April 22 Target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+ Model Performance Metrics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4919472"/>
            <a:ext cx="8887968" cy="224028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4141315757"/>
              </p:ext>
            </p:extLst>
          </p:nvPr>
        </p:nvGraphicFramePr>
        <p:xfrm>
          <a:off x="457200" y="109728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217920" y="1115568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09360" y="115214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$303.74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0" y="12070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Predicted Price (Apr 22)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17920" y="173736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09360" y="177393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$520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0" y="1828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Target Price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17920" y="2359152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09360" y="23957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r>
              <a:rPr lang="en-US" b="1" dirty="0">
                <a:solidFill>
                  <a:srgbClr val="0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315200" y="2450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Market Price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217920" y="2980944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09360" y="30175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315200" y="307238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(Root Mean Sq. Error)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17920" y="3602736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309360" y="36393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315200" y="369417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(Coefficient of Determination)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217920" y="4224528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309360" y="426110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✓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315200" y="43159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signals downside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347472" cy="347472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6968" y="365760"/>
            <a:ext cx="347472" cy="347472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347472" cy="347472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6968" y="749808"/>
            <a:ext cx="347472" cy="347472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173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(MSFT) — SELL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1732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0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$303.74  |  Downside: -18.0%  |  SELL Recommendation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2651760" cy="2011680"/>
          </a:xfrm>
          <a:prstGeom prst="rect">
            <a:avLst/>
          </a:prstGeom>
          <a:solidFill>
            <a:srgbClr val="1C4E80"/>
          </a:solidFill>
          <a:ln w="6350">
            <a:solidFill>
              <a:srgbClr val="50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" y="1508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Margin Risk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" y="1956816"/>
            <a:ext cx="2423160" cy="0"/>
          </a:xfrm>
          <a:prstGeom prst="line">
            <a:avLst/>
          </a:prstGeom>
          <a:noFill/>
          <a:ln w="6350">
            <a:solidFill>
              <a:srgbClr val="50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" y="2029968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~$10B AI run rate growing 175% YoY. Copilot across M365, GitHub, Azure – highest-margin product ever.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55848" y="1417320"/>
            <a:ext cx="2651760" cy="2011680"/>
          </a:xfrm>
          <a:prstGeom prst="rect">
            <a:avLst/>
          </a:prstGeom>
          <a:solidFill>
            <a:srgbClr val="1C4E80"/>
          </a:solidFill>
          <a:ln w="6350">
            <a:solidFill>
              <a:srgbClr val="50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65576" y="1508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Azure Deceleration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65576" y="1956816"/>
            <a:ext cx="2423160" cy="0"/>
          </a:xfrm>
          <a:prstGeom prst="line">
            <a:avLst/>
          </a:prstGeom>
          <a:noFill/>
          <a:ln w="6350">
            <a:solidFill>
              <a:srgbClr val="50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65576" y="2029968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growth rate decelerating QoQ. $100B+ FY2026 CapEx creates negative cash conversion risk if enterprise AI adoption lags expectations.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76" y="1417320"/>
            <a:ext cx="2651760" cy="2011680"/>
          </a:xfrm>
          <a:prstGeom prst="rect">
            <a:avLst/>
          </a:prstGeom>
          <a:solidFill>
            <a:srgbClr val="1C4E80"/>
          </a:solidFill>
          <a:ln w="6350">
            <a:solidFill>
              <a:srgbClr val="50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18504" y="1508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Valuation Disconnect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18504" y="1956816"/>
            <a:ext cx="2423160" cy="0"/>
          </a:xfrm>
          <a:prstGeom prst="line">
            <a:avLst/>
          </a:prstGeom>
          <a:noFill/>
          <a:ln w="6350">
            <a:solidFill>
              <a:srgbClr val="50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18504" y="2029968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 (~$370) prices in perfect execution. Our LSTM model fair value of $303.74 implies -21% downside. Market ignoring structural margin risk.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566160"/>
            <a:ext cx="8321040" cy="822960"/>
          </a:xfrm>
          <a:prstGeom prst="rect">
            <a:avLst/>
          </a:prstGeom>
          <a:solidFill>
            <a:srgbClr val="0F2D4E"/>
          </a:solidFill>
          <a:ln w="6350">
            <a:solidFill>
              <a:srgbClr val="50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6118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Stacked LSTM model predicts MSFT will decline to $303.74 — an 21% downside from current levels. The data signals a SELL."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2D4E"/>
          </a:solidFill>
          <a:ln w="12700">
            <a:solidFill>
              <a:srgbClr val="0F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5994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1343</TotalTime>
  <Words>3202</Words>
  <Application>Microsoft Macintosh PowerPoint</Application>
  <PresentationFormat>On-screen Show (16:9)</PresentationFormat>
  <Paragraphs>471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2013 - 2022 Theme</vt:lpstr>
      <vt:lpstr>Time-Series Forecasting of Microsoft  Closing Price using Stacked LSTM Layers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Corporation – CFA Research Challenge</dc:title>
  <dc:subject>PptxGenJS Presentation</dc:subject>
  <dc:creator>PptxGenJS</dc:creator>
  <cp:lastModifiedBy>Himanshu Beri</cp:lastModifiedBy>
  <cp:revision>7</cp:revision>
  <dcterms:created xsi:type="dcterms:W3CDTF">2026-04-05T19:19:21Z</dcterms:created>
  <dcterms:modified xsi:type="dcterms:W3CDTF">2026-04-08T14:51:16Z</dcterms:modified>
</cp:coreProperties>
</file>